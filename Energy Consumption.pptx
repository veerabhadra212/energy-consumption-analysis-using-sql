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3" r:id="rId3"/>
    <p:sldId id="258" r:id="rId4"/>
    <p:sldId id="260" r:id="rId5"/>
    <p:sldId id="261" r:id="rId6"/>
    <p:sldId id="262" r:id="rId7"/>
    <p:sldId id="279" r:id="rId8"/>
    <p:sldId id="280" r:id="rId9"/>
    <p:sldId id="281" r:id="rId10"/>
    <p:sldId id="282" r:id="rId11"/>
    <p:sldId id="268" r:id="rId12"/>
    <p:sldId id="266" r:id="rId13"/>
    <p:sldId id="267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64" r:id="rId23"/>
    <p:sldId id="265" r:id="rId24"/>
    <p:sldId id="263" r:id="rId25"/>
    <p:sldId id="259" r:id="rId26"/>
  </p:sldIdLst>
  <p:sldSz cx="12192000" cy="6858000"/>
  <p:notesSz cx="6858000" cy="9144000"/>
  <p:embeddedFontLst>
    <p:embeddedFont>
      <p:font typeface="Libre Baskerville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eerabhadra212" TargetMode="External"/><Relationship Id="rId2" Type="http://schemas.openxmlformats.org/officeDocument/2006/relationships/hyperlink" Target="https://www.linkedin.com/in/veerabhadrareddy/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163902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701504" y="4201885"/>
            <a:ext cx="7246189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ENERGY CONSUMPTION ANALYSIS</a:t>
            </a:r>
            <a:endParaRPr sz="3800" b="1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433EE7-5C03-D5BB-538E-707673EF04E8}"/>
              </a:ext>
            </a:extLst>
          </p:cNvPr>
          <p:cNvSpPr txBox="1"/>
          <p:nvPr/>
        </p:nvSpPr>
        <p:spPr>
          <a:xfrm>
            <a:off x="7824979" y="5889170"/>
            <a:ext cx="39207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D Veerabhadra Reddy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No. 484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30160-F4F4-ED05-2DB0-BFA9E0E9E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Me</a:t>
            </a:r>
            <a:endParaRPr lang="en-IN" sz="5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585411" y="2025660"/>
            <a:ext cx="10790159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B-Tech, Computer Science Engineering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digital world, data is everywhere, and organizations rely on it to make smart decisions. Learning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us turn raw data into meaningful insights.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>
                <a:hlinkClick r:id="rId2"/>
              </a:rPr>
              <a:t>D Veerabhadra Reddy | LinkedIn</a:t>
            </a:r>
            <a:endParaRPr lang="en-I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>
                <a:hlinkClick r:id="rId3"/>
              </a:rPr>
              <a:t>veerabhadra212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294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sz="5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82600" lvl="0" indent="-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  <a:p>
            <a:pPr marL="482600" lvl="0" indent="-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82600" lvl="0" indent="-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82600" lvl="0" indent="-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Description</a:t>
            </a:r>
          </a:p>
          <a:p>
            <a:pPr marL="482600" lvl="0" indent="-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  <a:p>
            <a:pPr marL="482600" lvl="0" indent="-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</a:t>
            </a:r>
          </a:p>
          <a:p>
            <a:pPr marL="482600" lvl="0" indent="-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82600" lvl="0" indent="-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4B95-CB02-D2DB-C3D5-8C077BA61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lang="en-IN" sz="5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01098-C0E6-9DA5-93EC-6B3EB4921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Energy-economy gap in global policy decisions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silos problem: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Raw energy data exists across multiple dimensions — consumption, production, emissions, population, and GDP — but remains siloed and unanalyzed.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analytical gap: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connecting these dimensions, policymakers cannot assess which nations drive global emissions, whether economic growth is decoupling from energy intensity, or how population growth amplifies environmental impact.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consequence: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Decisions on climate commitments, energy investment, and sustainability targets are made with incomplete evidence.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358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F6640-B7D9-1ADB-CDBD-961AE74CC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EBC04-1C63-37EF-86D7-136A46C1E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structured insight into energy-emission-GDP interdependencies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dispersion problem: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EIA dataset captures global energy metrics across multiple countries and years, but the data is dispersed across six independent tables — country, emission, consumption, production, gdp_ppp, and population — with no pre-built analytical layer.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unanswered questions: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a unified view, key questions remain unresolved: Which economies emit the most relative to their GDP? Is consumption growing faster than production in emerging markets? Are per-capita emissions declining in major economies over time?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strategic cost: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structured SQL-based analysis that joins and aggregates these tables, energy planners and researchers cannot identify emission hotspots, track efficiency trends, or benchmark countries against global averages — leading to missed opportunities for data-driven climate and energy strategy.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013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5473D-B904-6302-D3AC-D27A2A9FF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5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D85EA-0F00-6430-1A3B-5044D6AF3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top and bottom performers in emissions, GDP, and energy consumption across all countries for the most recent year.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 year-over-year changes in global and national emissions, GDP, and consumption to reveal acceleration or deceleration patterns.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raw totals by population to produce fair cross-country comparisons of energy use and emission intensity.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emission-to-GDP and consumption-to-GDP ratios to determine how efficiently each economy converts energy use into economic output.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the statistical relationship between GDP growth and energy production growth to test the decoupling hypothesis.</a:t>
            </a:r>
          </a:p>
        </p:txBody>
      </p:sp>
    </p:spTree>
    <p:extLst>
      <p:ext uri="{BB962C8B-B14F-4D97-AF65-F5344CB8AC3E}">
        <p14:creationId xmlns:p14="http://schemas.microsoft.com/office/powerpoint/2010/main" val="4242125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B15BB-CC70-C897-C513-BB0F4D5F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Description</a:t>
            </a:r>
            <a:endParaRPr lang="en-IN" sz="5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8B9F9-F2FC-DC95-DB33-2C6BEA7E1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6 tables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Analysis.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Emission 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 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Table</a:t>
            </a:r>
          </a:p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118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C3432C-FF04-6D6C-BB81-E35457275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78" y="1245227"/>
            <a:ext cx="3035814" cy="12822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3687A3-EB4F-F67D-5CE9-112BB22E865F}"/>
              </a:ext>
            </a:extLst>
          </p:cNvPr>
          <p:cNvSpPr txBox="1"/>
          <p:nvPr/>
        </p:nvSpPr>
        <p:spPr>
          <a:xfrm>
            <a:off x="817078" y="359779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 Table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1A1B6B-FE4A-E1A1-B57E-9827532E4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658" y="1112586"/>
            <a:ext cx="3862256" cy="11185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8D66BE-2AD7-7CBF-6093-D6A0FF564651}"/>
              </a:ext>
            </a:extLst>
          </p:cNvPr>
          <p:cNvSpPr txBox="1"/>
          <p:nvPr/>
        </p:nvSpPr>
        <p:spPr>
          <a:xfrm>
            <a:off x="817078" y="2889725"/>
            <a:ext cx="2950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Emission Table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816393-920A-8032-EFE4-91CEFDD17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78" y="4050593"/>
            <a:ext cx="3486329" cy="15621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C8809B-A83D-8AA1-3AD0-1BAD3EFEB7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4658" y="3932425"/>
            <a:ext cx="3740342" cy="111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451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F75BF9-7FBE-F873-4227-6A7E13664610}"/>
              </a:ext>
            </a:extLst>
          </p:cNvPr>
          <p:cNvSpPr txBox="1"/>
          <p:nvPr/>
        </p:nvSpPr>
        <p:spPr>
          <a:xfrm>
            <a:off x="576943" y="315686"/>
            <a:ext cx="2982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Population Table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8B7E1-17C9-9A30-89F0-E95E98048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35782"/>
            <a:ext cx="3473629" cy="14097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60CA86-F2E2-054D-66A4-B371B6365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942" y="1461372"/>
            <a:ext cx="3733800" cy="99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7973F0-FCB1-2027-A32B-86CD3D798AA8}"/>
              </a:ext>
            </a:extLst>
          </p:cNvPr>
          <p:cNvSpPr txBox="1"/>
          <p:nvPr/>
        </p:nvSpPr>
        <p:spPr>
          <a:xfrm>
            <a:off x="576943" y="3053410"/>
            <a:ext cx="3298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Table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6B7DCD-82ED-DA85-F7C8-F33799955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71047"/>
            <a:ext cx="3492679" cy="13780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A720D0-3BB0-1942-08CE-9046A92C4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942" y="4110241"/>
            <a:ext cx="3733800" cy="9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374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3D42A9-A29D-DF15-69CB-2EC14E360474}"/>
              </a:ext>
            </a:extLst>
          </p:cNvPr>
          <p:cNvSpPr txBox="1"/>
          <p:nvPr/>
        </p:nvSpPr>
        <p:spPr>
          <a:xfrm>
            <a:off x="536657" y="377186"/>
            <a:ext cx="243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6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GDP Table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7523AE-8481-DFFD-A2A8-9D88C633F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3" y="1452083"/>
            <a:ext cx="3448227" cy="13906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73F71C-871D-0514-5EAE-3B17F56CE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651" y="1406945"/>
            <a:ext cx="3613234" cy="8405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A231F1-B4EA-1A43-02CC-FE9CEF04DA6B}"/>
              </a:ext>
            </a:extLst>
          </p:cNvPr>
          <p:cNvSpPr txBox="1"/>
          <p:nvPr/>
        </p:nvSpPr>
        <p:spPr>
          <a:xfrm>
            <a:off x="536657" y="3310055"/>
            <a:ext cx="3679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6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Table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9D6F69-277E-868B-A771-3731F69F0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13" y="4300564"/>
            <a:ext cx="3568883" cy="14732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68FA66-0B9D-039E-0174-E355DB9678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0651" y="4409601"/>
            <a:ext cx="3410125" cy="8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5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23517-B8B3-4163-722D-44317309B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lang="en-IN" sz="5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E55FBD-CBB0-12E4-0204-DA4C16907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415" y="1602360"/>
            <a:ext cx="5945556" cy="419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256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5A80D4-874E-4516-CD30-AAB186179B76}"/>
              </a:ext>
            </a:extLst>
          </p:cNvPr>
          <p:cNvSpPr txBox="1"/>
          <p:nvPr/>
        </p:nvSpPr>
        <p:spPr>
          <a:xfrm>
            <a:off x="751114" y="587829"/>
            <a:ext cx="103087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emission per country for the most recent year available? 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201E30-7F03-C32B-F286-9717C3CCE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68" y="2225640"/>
            <a:ext cx="3867349" cy="17476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C90187-1000-A303-7A3B-DDF91A35B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086" y="1917622"/>
            <a:ext cx="2645228" cy="205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46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DAA392-5F56-500A-18B8-F40A7C1ACF28}"/>
              </a:ext>
            </a:extLst>
          </p:cNvPr>
          <p:cNvSpPr txBox="1"/>
          <p:nvPr/>
        </p:nvSpPr>
        <p:spPr>
          <a:xfrm>
            <a:off x="968828" y="500743"/>
            <a:ext cx="10254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top 5 countries by GDP in the most recent year?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8B78A-D52E-38CF-4303-882BF1C73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119" y="1977993"/>
            <a:ext cx="3533851" cy="20497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478F67-A3BC-AD60-6760-2B65DDEB8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625" y="1923564"/>
            <a:ext cx="2222090" cy="204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670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63E655-8FE1-2028-C4F1-33B4A5CA7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387" y="1719943"/>
            <a:ext cx="4554870" cy="3233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1BC7DC-0D68-9AD4-1F50-E9517A73B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401" y="2677646"/>
            <a:ext cx="3271685" cy="15027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7AE023-34A9-8341-6D4C-5FD64D09FD60}"/>
              </a:ext>
            </a:extLst>
          </p:cNvPr>
          <p:cNvSpPr txBox="1"/>
          <p:nvPr/>
        </p:nvSpPr>
        <p:spPr>
          <a:xfrm>
            <a:off x="990600" y="402771"/>
            <a:ext cx="8545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How have global emissions changed year over year?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352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C74C57-93AA-8848-C092-6AEEE0908A28}"/>
              </a:ext>
            </a:extLst>
          </p:cNvPr>
          <p:cNvSpPr txBox="1"/>
          <p:nvPr/>
        </p:nvSpPr>
        <p:spPr>
          <a:xfrm>
            <a:off x="1088570" y="326571"/>
            <a:ext cx="95685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trend in GDP for each country over the given years?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FE703D-3C4A-10F7-1BCA-EF7D9612E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0" y="2062775"/>
            <a:ext cx="5010407" cy="23459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56D53F-5532-1E57-A6F6-1C815E282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617" y="1766157"/>
            <a:ext cx="3168813" cy="264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96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9AA133-76B4-15A4-2A5A-0898B5D418BA}"/>
              </a:ext>
            </a:extLst>
          </p:cNvPr>
          <p:cNvSpPr txBox="1"/>
          <p:nvPr/>
        </p:nvSpPr>
        <p:spPr>
          <a:xfrm>
            <a:off x="887185" y="402771"/>
            <a:ext cx="104176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energy consumption increased or decreased over the years for major economies?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B65D21-6ED0-8244-E95C-155D3173E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85" y="2381195"/>
            <a:ext cx="4572235" cy="2778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89089B-CA9F-76CF-F500-44C1EEF9A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984" y="2009702"/>
            <a:ext cx="2940201" cy="315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33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8E4E19-64EC-60EF-202A-D786AF1968D7}"/>
              </a:ext>
            </a:extLst>
          </p:cNvPr>
          <p:cNvSpPr txBox="1"/>
          <p:nvPr/>
        </p:nvSpPr>
        <p:spPr>
          <a:xfrm>
            <a:off x="1001486" y="500743"/>
            <a:ext cx="982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emission-to-GDP ratio for each country by year?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C1FB03-7C42-95FF-836E-5E8BA8087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86" y="1912909"/>
            <a:ext cx="3679371" cy="30321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41C647-6BDB-6003-1329-54D3E8AF2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988" y="1912909"/>
            <a:ext cx="3905451" cy="284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73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274267-D809-D70F-9D68-E70C9F3AC9DD}"/>
              </a:ext>
            </a:extLst>
          </p:cNvPr>
          <p:cNvSpPr txBox="1"/>
          <p:nvPr/>
        </p:nvSpPr>
        <p:spPr>
          <a:xfrm>
            <a:off x="1066800" y="555171"/>
            <a:ext cx="975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country has the highest energy consumption relative to GDP?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310958-CD4B-19DE-1842-21FB9C00D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408" y="2216087"/>
            <a:ext cx="4152992" cy="2802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446062-55FE-9DBB-6A0C-92E459794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289" y="2335870"/>
            <a:ext cx="4464279" cy="140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78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3890A3-C87D-A439-9E1C-0765EAB94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051892"/>
            <a:ext cx="3363686" cy="3107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8B5DF9-90FF-B593-9B8A-0799C83C41D8}"/>
              </a:ext>
            </a:extLst>
          </p:cNvPr>
          <p:cNvSpPr txBox="1"/>
          <p:nvPr/>
        </p:nvSpPr>
        <p:spPr>
          <a:xfrm>
            <a:off x="664028" y="478971"/>
            <a:ext cx="112340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top 10 countries by population and how do their emissions compare?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0879A-893A-4CF0-43F0-963B520F5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454" y="2375303"/>
            <a:ext cx="2656632" cy="232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888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707594-DAFE-42E6-5348-AB1161E0369D}"/>
              </a:ext>
            </a:extLst>
          </p:cNvPr>
          <p:cNvSpPr txBox="1"/>
          <p:nvPr/>
        </p:nvSpPr>
        <p:spPr>
          <a:xfrm>
            <a:off x="783771" y="381000"/>
            <a:ext cx="1127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top 10 countries have improved (reduced) their per capita emissions the most over the time?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1ADDFA-28F3-004B-4544-9B891999B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180" y="1915332"/>
            <a:ext cx="4064209" cy="2667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9567FA-C2D4-0C89-1894-07A6DDDDC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64" y="1664958"/>
            <a:ext cx="4845299" cy="400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67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76B192-3DCD-EF3F-3009-00473B41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575" y="1745289"/>
            <a:ext cx="5435879" cy="20829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583599-3575-2EDD-996D-3E6DB6F60DE7}"/>
              </a:ext>
            </a:extLst>
          </p:cNvPr>
          <p:cNvSpPr txBox="1"/>
          <p:nvPr/>
        </p:nvSpPr>
        <p:spPr>
          <a:xfrm>
            <a:off x="1153886" y="576943"/>
            <a:ext cx="9427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global share (%) of emissions by country?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67D46-6FBB-2E75-4454-59AA970E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971" y="1745289"/>
            <a:ext cx="2768742" cy="29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599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06C14-4039-94DF-80AC-CEC32DB0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85BD1-4B62-362E-6AB6-FB78E1D8D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insight: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Energy data, when structured relationally and queried with intent, becomes a powerful lens for understanding the intersection of economic development, population growth, and environmental responsibility. 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working across six interconnected tables — country, emission, consumption, production, gdp_ppp, and population — the analysis moved beyond isolated numbers. </a:t>
            </a:r>
          </a:p>
        </p:txBody>
      </p:sp>
    </p:spTree>
    <p:extLst>
      <p:ext uri="{BB962C8B-B14F-4D97-AF65-F5344CB8AC3E}">
        <p14:creationId xmlns:p14="http://schemas.microsoft.com/office/powerpoint/2010/main" val="2802178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4302F-D084-0CF5-7A2F-8DF3AD111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BBE00-F7E9-75FD-B969-8A1F82A38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Enrich the 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covers what new data sources to bring in (renewables, trade flows, sub-national data) to make the existing schema more powerful without changing the analytical approach.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Deepen the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moves beyond SQL into forecasting and machine learning  showing evaluators that you understand where data analysis naturally leads.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and act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ties the technical work to real-world impact dashboards, policy alignment with the UN SDGs, and live data feeds which demonstrates genuine strategic thinking.</a:t>
            </a:r>
          </a:p>
        </p:txBody>
      </p:sp>
    </p:spTree>
    <p:extLst>
      <p:ext uri="{BB962C8B-B14F-4D97-AF65-F5344CB8AC3E}">
        <p14:creationId xmlns:p14="http://schemas.microsoft.com/office/powerpoint/2010/main" val="3528355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0C9A87-CA27-9C13-CBC9-639C76564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599" y="1411019"/>
            <a:ext cx="6769093" cy="381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34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736</Words>
  <Application>Microsoft Office PowerPoint</Application>
  <PresentationFormat>Widescreen</PresentationFormat>
  <Paragraphs>66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Calibri</vt:lpstr>
      <vt:lpstr>Wingdings</vt:lpstr>
      <vt:lpstr>Libre Baskerville</vt:lpstr>
      <vt:lpstr>Arial</vt:lpstr>
      <vt:lpstr>Times New Roman</vt:lpstr>
      <vt:lpstr>Office Theme</vt:lpstr>
      <vt:lpstr>PowerPoint Presentation</vt:lpstr>
      <vt:lpstr>About Me</vt:lpstr>
      <vt:lpstr>Agenda</vt:lpstr>
      <vt:lpstr>Business Problem</vt:lpstr>
      <vt:lpstr>Problem Statement</vt:lpstr>
      <vt:lpstr>Objectives</vt:lpstr>
      <vt:lpstr>Table Description</vt:lpstr>
      <vt:lpstr>PowerPoint Presentation</vt:lpstr>
      <vt:lpstr>PowerPoint Presentation</vt:lpstr>
      <vt:lpstr>PowerPoint Presentation</vt:lpstr>
      <vt:lpstr>ER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Recommendations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veerabhadra</cp:lastModifiedBy>
  <cp:revision>28</cp:revision>
  <dcterms:created xsi:type="dcterms:W3CDTF">2021-02-16T05:19:01Z</dcterms:created>
  <dcterms:modified xsi:type="dcterms:W3CDTF">2026-05-09T05:31:02Z</dcterms:modified>
</cp:coreProperties>
</file>